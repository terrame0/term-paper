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855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05814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989434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067229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781336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348380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224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550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7268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7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374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399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244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780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1827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03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947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9814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960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856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305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21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155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9213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587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5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3943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01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5555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4162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274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06046" name="Shape 0"/>
          <p:cNvSpPr/>
          <p:nvPr/>
        </p:nvSpPr>
        <p:spPr bwMode="auto">
          <a:xfrm>
            <a:off x="0" y="0"/>
            <a:ext cx="320040" cy="51435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200441012" name="Shape 1"/>
          <p:cNvSpPr/>
          <p:nvPr/>
        </p:nvSpPr>
        <p:spPr bwMode="auto">
          <a:xfrm>
            <a:off x="640080" y="960120"/>
            <a:ext cx="7772400" cy="45720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1002095611" name="Text 2"/>
          <p:cNvSpPr/>
          <p:nvPr/>
        </p:nvSpPr>
        <p:spPr bwMode="auto"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400">
                <a:solidFill>
                  <a:srgbClr val="14A8A8"/>
                </a:solidFill>
              </a:rPr>
              <a:t>ПРЕДЗАЩИТА КУРСОВОЙ РАБОТЫ</a:t>
            </a:r>
            <a:endParaRPr lang="en-US" sz="1100"/>
          </a:p>
        </p:txBody>
      </p:sp>
      <p:sp>
        <p:nvSpPr>
          <p:cNvPr id="734713717" name="Text 3"/>
          <p:cNvSpPr/>
          <p:nvPr/>
        </p:nvSpPr>
        <p:spPr bwMode="auto">
          <a:xfrm>
            <a:off x="640080" y="155448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3800" b="1">
                <a:solidFill>
                  <a:srgbClr val="FFFFFF"/>
                </a:solidFill>
              </a:rPr>
              <a:t>Информационная система</a:t>
            </a:r>
            <a:endParaRPr lang="en-US" sz="38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3800" b="1">
                <a:solidFill>
                  <a:srgbClr val="FFFFFF"/>
                </a:solidFill>
              </a:rPr>
              <a:t>рекламного агентства</a:t>
            </a:r>
            <a:endParaRPr lang="en-US" sz="3800"/>
          </a:p>
        </p:txBody>
      </p:sp>
      <p:sp>
        <p:nvSpPr>
          <p:cNvPr id="1510044437" name="Text 4"/>
          <p:cNvSpPr/>
          <p:nvPr/>
        </p:nvSpPr>
        <p:spPr bwMode="auto">
          <a:xfrm>
            <a:off x="64008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CBD5E1"/>
                </a:solidFill>
              </a:rPr>
              <a:t>База данных · PostgreSQL · PHP 8 · Nginx</a:t>
            </a:r>
            <a:endParaRPr lang="en-US" sz="1400"/>
          </a:p>
        </p:txBody>
      </p:sp>
      <p:sp>
        <p:nvSpPr>
          <p:cNvPr id="1674448015" name="Shape 5"/>
          <p:cNvSpPr/>
          <p:nvPr/>
        </p:nvSpPr>
        <p:spPr bwMode="auto">
          <a:xfrm>
            <a:off x="640080" y="3840480"/>
            <a:ext cx="4572000" cy="36576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472281237" name="Text 6"/>
          <p:cNvSpPr/>
          <p:nvPr/>
        </p:nvSpPr>
        <p:spPr bwMode="auto">
          <a:xfrm>
            <a:off x="64008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BD5E1"/>
                </a:solidFill>
              </a:rPr>
              <a:t>Выполнил: </a:t>
            </a:r>
            <a:r>
              <a:rPr lang="en-US" sz="1200" b="1">
                <a:solidFill>
                  <a:srgbClr val="FFFFFF"/>
                </a:solidFill>
              </a:rPr>
              <a:t>Яремчук Олег Васильевич</a:t>
            </a:r>
            <a:r>
              <a:rPr lang="en-US" sz="1200">
                <a:solidFill>
                  <a:srgbClr val="CBD5E1"/>
                </a:solidFill>
              </a:rPr>
              <a:t>  |  гр. 24 ПИжб</a:t>
            </a:r>
            <a:endParaRPr lang="en-US" sz="1200"/>
          </a:p>
        </p:txBody>
      </p:sp>
      <p:sp>
        <p:nvSpPr>
          <p:cNvPr id="1798690827" name="Text 7"/>
          <p:cNvSpPr/>
          <p:nvPr/>
        </p:nvSpPr>
        <p:spPr bwMode="auto"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</a:rPr>
              <a:t>Руководитель: Проценко И.Г.  ·  КамчатГТУ, 2025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57061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97809542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spc="200">
                <a:solidFill>
                  <a:srgbClr val="FFFFFF"/>
                </a:solidFill>
              </a:rPr>
              <a:t>1. ОПИСАНИЕ ПРЕДМЕТНОЙ ОБЛАСТИ</a:t>
            </a:r>
            <a:endParaRPr lang="en-US" sz="2000"/>
          </a:p>
        </p:txBody>
      </p:sp>
      <p:sp>
        <p:nvSpPr>
          <p:cNvPr id="807121573" name="Shape 2"/>
          <p:cNvSpPr/>
          <p:nvPr/>
        </p:nvSpPr>
        <p:spPr bwMode="auto">
          <a:xfrm>
            <a:off x="36576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440926734" name="Shape 3"/>
          <p:cNvSpPr/>
          <p:nvPr/>
        </p:nvSpPr>
        <p:spPr bwMode="auto">
          <a:xfrm>
            <a:off x="365760" y="914400"/>
            <a:ext cx="64008" cy="347472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186801764" name="Text 4"/>
          <p:cNvSpPr/>
          <p:nvPr/>
        </p:nvSpPr>
        <p:spPr bwMode="auto">
          <a:xfrm>
            <a:off x="502920" y="987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744"/>
                </a:solidFill>
              </a:rPr>
              <a:t>Рекламное агентство</a:t>
            </a:r>
            <a:endParaRPr lang="en-US" sz="1400"/>
          </a:p>
        </p:txBody>
      </p:sp>
      <p:sp>
        <p:nvSpPr>
          <p:cNvPr id="1648551979" name="Text 5"/>
          <p:cNvSpPr/>
          <p:nvPr/>
        </p:nvSpPr>
        <p:spPr bwMode="auto">
          <a:xfrm>
            <a:off x="502920" y="13898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293B"/>
                </a:solidFill>
              </a:rPr>
              <a:t>Коммерческая организация, оказывающая услуги по </a:t>
            </a:r>
            <a:r>
              <a:rPr lang="en-US" sz="1200" b="1">
                <a:solidFill>
                  <a:srgbClr val="1E293B"/>
                </a:solidFill>
              </a:rPr>
              <a:t>планированию, созданию и размещению рекламы</a:t>
            </a:r>
            <a:r>
              <a:rPr lang="en-US" sz="1200">
                <a:solidFill>
                  <a:srgbClr val="1E293B"/>
                </a:solidFill>
              </a:rPr>
              <a:t> для клиентов — физических и юридических лиц.</a:t>
            </a:r>
            <a:endParaRPr lang="en-US" sz="1200"/>
          </a:p>
        </p:txBody>
      </p:sp>
      <p:sp>
        <p:nvSpPr>
          <p:cNvPr id="271368386" name="Text 6"/>
          <p:cNvSpPr/>
          <p:nvPr/>
        </p:nvSpPr>
        <p:spPr bwMode="auto">
          <a:xfrm>
            <a:off x="50292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8080"/>
                </a:solidFill>
              </a:rPr>
              <a:t>Полный цикл:</a:t>
            </a:r>
            <a:endParaRPr lang="en-US" sz="1200"/>
          </a:p>
        </p:txBody>
      </p:sp>
      <p:sp>
        <p:nvSpPr>
          <p:cNvPr id="575324664" name="Shape 7"/>
          <p:cNvSpPr/>
          <p:nvPr/>
        </p:nvSpPr>
        <p:spPr bwMode="auto">
          <a:xfrm>
            <a:off x="548640" y="2542032"/>
            <a:ext cx="201168" cy="20116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491554537" name="Text 8"/>
          <p:cNvSpPr/>
          <p:nvPr/>
        </p:nvSpPr>
        <p:spPr bwMode="auto">
          <a:xfrm>
            <a:off x="822960" y="24871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Регистрация клиента</a:t>
            </a:r>
            <a:endParaRPr lang="en-US" sz="1100"/>
          </a:p>
        </p:txBody>
      </p:sp>
      <p:sp>
        <p:nvSpPr>
          <p:cNvPr id="538526387" name="Shape 9"/>
          <p:cNvSpPr/>
          <p:nvPr/>
        </p:nvSpPr>
        <p:spPr bwMode="auto">
          <a:xfrm>
            <a:off x="548640" y="2889504"/>
            <a:ext cx="201168" cy="20116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62520299" name="Text 10"/>
          <p:cNvSpPr/>
          <p:nvPr/>
        </p:nvSpPr>
        <p:spPr bwMode="auto">
          <a:xfrm>
            <a:off x="822960" y="28346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Заключение договора</a:t>
            </a:r>
            <a:endParaRPr lang="en-US" sz="1100"/>
          </a:p>
        </p:txBody>
      </p:sp>
      <p:sp>
        <p:nvSpPr>
          <p:cNvPr id="507924460" name="Shape 11"/>
          <p:cNvSpPr/>
          <p:nvPr/>
        </p:nvSpPr>
        <p:spPr bwMode="auto">
          <a:xfrm>
            <a:off x="548640" y="3236976"/>
            <a:ext cx="201168" cy="20116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19020457" name="Text 12"/>
          <p:cNvSpPr/>
          <p:nvPr/>
        </p:nvSpPr>
        <p:spPr bwMode="auto">
          <a:xfrm>
            <a:off x="822960" y="3182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Формирование кампании</a:t>
            </a:r>
            <a:endParaRPr lang="en-US" sz="1100"/>
          </a:p>
        </p:txBody>
      </p:sp>
      <p:sp>
        <p:nvSpPr>
          <p:cNvPr id="745896129" name="Shape 13"/>
          <p:cNvSpPr/>
          <p:nvPr/>
        </p:nvSpPr>
        <p:spPr bwMode="auto">
          <a:xfrm>
            <a:off x="548640" y="3584448"/>
            <a:ext cx="201168" cy="20116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575048080" name="Text 14"/>
          <p:cNvSpPr/>
          <p:nvPr/>
        </p:nvSpPr>
        <p:spPr bwMode="auto">
          <a:xfrm>
            <a:off x="822960" y="35295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Размещение рекламы</a:t>
            </a:r>
            <a:endParaRPr lang="en-US" sz="1100"/>
          </a:p>
        </p:txBody>
      </p:sp>
      <p:sp>
        <p:nvSpPr>
          <p:cNvPr id="833526099" name="Shape 15"/>
          <p:cNvSpPr/>
          <p:nvPr/>
        </p:nvSpPr>
        <p:spPr bwMode="auto">
          <a:xfrm>
            <a:off x="548640" y="3931920"/>
            <a:ext cx="201168" cy="20116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2023604796" name="Text 16"/>
          <p:cNvSpPr/>
          <p:nvPr/>
        </p:nvSpPr>
        <p:spPr bwMode="auto">
          <a:xfrm>
            <a:off x="822960" y="38770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Анализ эффективности</a:t>
            </a:r>
            <a:endParaRPr lang="en-US" sz="1100"/>
          </a:p>
        </p:txBody>
      </p:sp>
      <p:sp>
        <p:nvSpPr>
          <p:cNvPr id="495785264" name="Shape 17"/>
          <p:cNvSpPr/>
          <p:nvPr/>
        </p:nvSpPr>
        <p:spPr bwMode="auto">
          <a:xfrm>
            <a:off x="4434840" y="914400"/>
            <a:ext cx="4343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862873167" name="Shape 18"/>
          <p:cNvSpPr/>
          <p:nvPr/>
        </p:nvSpPr>
        <p:spPr bwMode="auto">
          <a:xfrm>
            <a:off x="4434840" y="914400"/>
            <a:ext cx="64008" cy="347472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2014686905" name="Text 19"/>
          <p:cNvSpPr/>
          <p:nvPr/>
        </p:nvSpPr>
        <p:spPr bwMode="auto">
          <a:xfrm>
            <a:off x="457200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744"/>
                </a:solidFill>
              </a:rPr>
              <a:t>6 рекламных каналов</a:t>
            </a:r>
            <a:endParaRPr lang="en-US" sz="1400"/>
          </a:p>
        </p:txBody>
      </p:sp>
      <p:sp>
        <p:nvSpPr>
          <p:cNvPr id="945720969" name="Shape 20"/>
          <p:cNvSpPr/>
          <p:nvPr/>
        </p:nvSpPr>
        <p:spPr bwMode="auto">
          <a:xfrm>
            <a:off x="4572000" y="1389888"/>
            <a:ext cx="4023360" cy="402336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485244642" name="Text 21"/>
          <p:cNvSpPr/>
          <p:nvPr/>
        </p:nvSpPr>
        <p:spPr bwMode="auto">
          <a:xfrm>
            <a:off x="4645152" y="14264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YouTube</a:t>
            </a:r>
            <a:endParaRPr lang="en-US" sz="1100"/>
          </a:p>
        </p:txBody>
      </p:sp>
      <p:sp>
        <p:nvSpPr>
          <p:cNvPr id="1702878056" name="Text 22"/>
          <p:cNvSpPr/>
          <p:nvPr/>
        </p:nvSpPr>
        <p:spPr bwMode="auto">
          <a:xfrm>
            <a:off x="4645152" y="15910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канал, длина видео, время до пропуска</a:t>
            </a:r>
            <a:endParaRPr lang="en-US" sz="950"/>
          </a:p>
        </p:txBody>
      </p:sp>
      <p:sp>
        <p:nvSpPr>
          <p:cNvPr id="1014874091" name="Shape 23"/>
          <p:cNvSpPr/>
          <p:nvPr/>
        </p:nvSpPr>
        <p:spPr bwMode="auto">
          <a:xfrm>
            <a:off x="4572000" y="1892808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3950665" name="Text 24"/>
          <p:cNvSpPr/>
          <p:nvPr/>
        </p:nvSpPr>
        <p:spPr bwMode="auto">
          <a:xfrm>
            <a:off x="4645152" y="19293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Пресса</a:t>
            </a:r>
            <a:endParaRPr lang="en-US" sz="1100"/>
          </a:p>
        </p:txBody>
      </p:sp>
      <p:sp>
        <p:nvSpPr>
          <p:cNvPr id="656829282" name="Text 25"/>
          <p:cNvSpPr/>
          <p:nvPr/>
        </p:nvSpPr>
        <p:spPr bwMode="auto">
          <a:xfrm>
            <a:off x="4645152" y="20939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издание, полоса, размер объявления</a:t>
            </a:r>
            <a:endParaRPr lang="en-US" sz="950"/>
          </a:p>
        </p:txBody>
      </p:sp>
      <p:sp>
        <p:nvSpPr>
          <p:cNvPr id="2145140527" name="Shape 26"/>
          <p:cNvSpPr/>
          <p:nvPr/>
        </p:nvSpPr>
        <p:spPr bwMode="auto">
          <a:xfrm>
            <a:off x="4572000" y="2395728"/>
            <a:ext cx="4023360" cy="402336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745461475" name="Text 27"/>
          <p:cNvSpPr/>
          <p:nvPr/>
        </p:nvSpPr>
        <p:spPr bwMode="auto">
          <a:xfrm>
            <a:off x="4645152" y="243230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Билборды</a:t>
            </a:r>
            <a:endParaRPr lang="en-US" sz="1100"/>
          </a:p>
        </p:txBody>
      </p:sp>
      <p:sp>
        <p:nvSpPr>
          <p:cNvPr id="2120284646" name="Text 28"/>
          <p:cNvSpPr/>
          <p:nvPr/>
        </p:nvSpPr>
        <p:spPr bwMode="auto">
          <a:xfrm>
            <a:off x="4645152" y="259689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адрес, размер, подсветка</a:t>
            </a:r>
            <a:endParaRPr lang="en-US" sz="950"/>
          </a:p>
        </p:txBody>
      </p:sp>
      <p:sp>
        <p:nvSpPr>
          <p:cNvPr id="54121995" name="Shape 29"/>
          <p:cNvSpPr/>
          <p:nvPr/>
        </p:nvSpPr>
        <p:spPr bwMode="auto">
          <a:xfrm>
            <a:off x="4572000" y="2898648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6277844" name="Text 30"/>
          <p:cNvSpPr/>
          <p:nvPr/>
        </p:nvSpPr>
        <p:spPr bwMode="auto">
          <a:xfrm>
            <a:off x="4645152" y="2935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Радио</a:t>
            </a:r>
            <a:endParaRPr lang="en-US" sz="1100"/>
          </a:p>
        </p:txBody>
      </p:sp>
      <p:sp>
        <p:nvSpPr>
          <p:cNvPr id="831503444" name="Text 31"/>
          <p:cNvSpPr/>
          <p:nvPr/>
        </p:nvSpPr>
        <p:spPr bwMode="auto">
          <a:xfrm>
            <a:off x="4645152" y="309981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станция, время эфира, хронометраж</a:t>
            </a:r>
            <a:endParaRPr lang="en-US" sz="950"/>
          </a:p>
        </p:txBody>
      </p:sp>
      <p:sp>
        <p:nvSpPr>
          <p:cNvPr id="46857844" name="Shape 32"/>
          <p:cNvSpPr/>
          <p:nvPr/>
        </p:nvSpPr>
        <p:spPr bwMode="auto">
          <a:xfrm>
            <a:off x="4572000" y="3401568"/>
            <a:ext cx="4023360" cy="402336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92242315" name="Text 33"/>
          <p:cNvSpPr/>
          <p:nvPr/>
        </p:nvSpPr>
        <p:spPr bwMode="auto">
          <a:xfrm>
            <a:off x="4645152" y="34381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Соцсети</a:t>
            </a:r>
            <a:endParaRPr lang="en-US" sz="1100"/>
          </a:p>
        </p:txBody>
      </p:sp>
      <p:sp>
        <p:nvSpPr>
          <p:cNvPr id="783182867" name="Text 34"/>
          <p:cNvSpPr/>
          <p:nvPr/>
        </p:nvSpPr>
        <p:spPr bwMode="auto">
          <a:xfrm>
            <a:off x="4645152" y="3602735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платформа, формат, целевой возраст</a:t>
            </a:r>
            <a:endParaRPr lang="en-US" sz="950"/>
          </a:p>
        </p:txBody>
      </p:sp>
      <p:sp>
        <p:nvSpPr>
          <p:cNvPr id="2027130293" name="Shape 35"/>
          <p:cNvSpPr/>
          <p:nvPr/>
        </p:nvSpPr>
        <p:spPr bwMode="auto">
          <a:xfrm>
            <a:off x="4572000" y="3904488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41603440" name="Text 36"/>
          <p:cNvSpPr/>
          <p:nvPr/>
        </p:nvSpPr>
        <p:spPr bwMode="auto">
          <a:xfrm>
            <a:off x="4645152" y="39410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8080"/>
                </a:solidFill>
              </a:rPr>
              <a:t>Email</a:t>
            </a:r>
            <a:endParaRPr lang="en-US" sz="1100"/>
          </a:p>
        </p:txBody>
      </p:sp>
      <p:sp>
        <p:nvSpPr>
          <p:cNvPr id="55035747" name="Text 37"/>
          <p:cNvSpPr/>
          <p:nvPr/>
        </p:nvSpPr>
        <p:spPr bwMode="auto">
          <a:xfrm>
            <a:off x="4645152" y="41056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</a:rPr>
              <a:t>шаблон, показатель открываемости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047487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92610067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 spc="100">
                <a:solidFill>
                  <a:srgbClr val="FFFFFF"/>
                </a:solidFill>
              </a:rPr>
              <a:t>1. ВХОДНЫЕ / ВЫХОДНЫЕ ДАННЫЕ И ОГРАНИЧЕНИЯ</a:t>
            </a:r>
            <a:endParaRPr lang="en-US" sz="1800"/>
          </a:p>
        </p:txBody>
      </p:sp>
      <p:sp>
        <p:nvSpPr>
          <p:cNvPr id="1396552542" name="Shape 2"/>
          <p:cNvSpPr/>
          <p:nvPr/>
        </p:nvSpPr>
        <p:spPr bwMode="auto">
          <a:xfrm>
            <a:off x="365760" y="91440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873685409" name="Shape 3"/>
          <p:cNvSpPr/>
          <p:nvPr/>
        </p:nvSpPr>
        <p:spPr bwMode="auto">
          <a:xfrm>
            <a:off x="365760" y="914400"/>
            <a:ext cx="265176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52858715" name="Text 4"/>
          <p:cNvSpPr/>
          <p:nvPr/>
        </p:nvSpPr>
        <p:spPr bwMode="auto">
          <a:xfrm>
            <a:off x="457200" y="950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FFFFFF"/>
                </a:solidFill>
              </a:rPr>
              <a:t>ВХОДНЫЕ ДАННЫЕ</a:t>
            </a:r>
            <a:endParaRPr lang="en-US" sz="1100"/>
          </a:p>
        </p:txBody>
      </p:sp>
      <p:sp>
        <p:nvSpPr>
          <p:cNvPr id="180450596" name="Shape 5"/>
          <p:cNvSpPr/>
          <p:nvPr/>
        </p:nvSpPr>
        <p:spPr bwMode="auto">
          <a:xfrm>
            <a:off x="502920" y="1463040"/>
            <a:ext cx="182880" cy="18288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973176773" name="Text 6"/>
          <p:cNvSpPr/>
          <p:nvPr/>
        </p:nvSpPr>
        <p:spPr bwMode="auto">
          <a:xfrm>
            <a:off x="749808" y="13898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Карточка клиента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(имя, ИНН, контакты)</a:t>
            </a:r>
            <a:endParaRPr lang="en-US" sz="1100"/>
          </a:p>
        </p:txBody>
      </p:sp>
      <p:sp>
        <p:nvSpPr>
          <p:cNvPr id="1635405" name="Shape 7"/>
          <p:cNvSpPr/>
          <p:nvPr/>
        </p:nvSpPr>
        <p:spPr bwMode="auto">
          <a:xfrm>
            <a:off x="502920" y="2212848"/>
            <a:ext cx="182880" cy="18288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2009660440" name="Text 8"/>
          <p:cNvSpPr/>
          <p:nvPr/>
        </p:nvSpPr>
        <p:spPr bwMode="auto">
          <a:xfrm>
            <a:off x="749808" y="21396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Карточка кампании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(название, стоимость, срок)</a:t>
            </a:r>
            <a:endParaRPr lang="en-US" sz="1100"/>
          </a:p>
        </p:txBody>
      </p:sp>
      <p:sp>
        <p:nvSpPr>
          <p:cNvPr id="1417382817" name="Shape 9"/>
          <p:cNvSpPr/>
          <p:nvPr/>
        </p:nvSpPr>
        <p:spPr bwMode="auto">
          <a:xfrm>
            <a:off x="502920" y="2962656"/>
            <a:ext cx="182880" cy="18288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514064862" name="Text 10"/>
          <p:cNvSpPr/>
          <p:nvPr/>
        </p:nvSpPr>
        <p:spPr bwMode="auto">
          <a:xfrm>
            <a:off x="749808" y="288950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Параметры канала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(YouTube / пресса / радио / …)</a:t>
            </a:r>
            <a:endParaRPr lang="en-US" sz="1100"/>
          </a:p>
        </p:txBody>
      </p:sp>
      <p:sp>
        <p:nvSpPr>
          <p:cNvPr id="1519971619" name="Shape 11"/>
          <p:cNvSpPr/>
          <p:nvPr/>
        </p:nvSpPr>
        <p:spPr bwMode="auto">
          <a:xfrm>
            <a:off x="502920" y="3712464"/>
            <a:ext cx="182880" cy="18288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403171941" name="Text 12"/>
          <p:cNvSpPr/>
          <p:nvPr/>
        </p:nvSpPr>
        <p:spPr bwMode="auto">
          <a:xfrm>
            <a:off x="749808" y="363931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Результаты кампании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(просмотры, клики, конверсии)</a:t>
            </a:r>
            <a:endParaRPr lang="en-US" sz="1100"/>
          </a:p>
        </p:txBody>
      </p:sp>
      <p:sp>
        <p:nvSpPr>
          <p:cNvPr id="956232805" name="Shape 13"/>
          <p:cNvSpPr/>
          <p:nvPr/>
        </p:nvSpPr>
        <p:spPr bwMode="auto">
          <a:xfrm>
            <a:off x="3246120" y="91440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586953345" name="Shape 14"/>
          <p:cNvSpPr/>
          <p:nvPr/>
        </p:nvSpPr>
        <p:spPr bwMode="auto">
          <a:xfrm>
            <a:off x="3246120" y="914400"/>
            <a:ext cx="2651760" cy="347472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386289232" name="Text 15"/>
          <p:cNvSpPr/>
          <p:nvPr/>
        </p:nvSpPr>
        <p:spPr bwMode="auto">
          <a:xfrm>
            <a:off x="3337560" y="950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FFFFFF"/>
                </a:solidFill>
              </a:rPr>
              <a:t>ВЫХОДНЫЕ ДАННЫЕ</a:t>
            </a:r>
            <a:endParaRPr lang="en-US" sz="1100"/>
          </a:p>
        </p:txBody>
      </p:sp>
      <p:sp>
        <p:nvSpPr>
          <p:cNvPr id="224619463" name="Shape 16"/>
          <p:cNvSpPr/>
          <p:nvPr/>
        </p:nvSpPr>
        <p:spPr bwMode="auto">
          <a:xfrm>
            <a:off x="3383280" y="146304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26946941" name="Shape 17"/>
          <p:cNvSpPr/>
          <p:nvPr/>
        </p:nvSpPr>
        <p:spPr bwMode="auto">
          <a:xfrm>
            <a:off x="3392424" y="1472184"/>
            <a:ext cx="164592" cy="16459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72837865" name="Text 18"/>
          <p:cNvSpPr/>
          <p:nvPr/>
        </p:nvSpPr>
        <p:spPr bwMode="auto">
          <a:xfrm>
            <a:off x="3630168" y="13898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Список клиентов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(поиск по имени / ИНН)</a:t>
            </a:r>
            <a:endParaRPr lang="en-US" sz="1100"/>
          </a:p>
        </p:txBody>
      </p:sp>
      <p:sp>
        <p:nvSpPr>
          <p:cNvPr id="2142388841" name="Shape 19"/>
          <p:cNvSpPr/>
          <p:nvPr/>
        </p:nvSpPr>
        <p:spPr bwMode="auto">
          <a:xfrm>
            <a:off x="3383280" y="221284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028499" name="Shape 20"/>
          <p:cNvSpPr/>
          <p:nvPr/>
        </p:nvSpPr>
        <p:spPr bwMode="auto">
          <a:xfrm>
            <a:off x="3392424" y="2221992"/>
            <a:ext cx="164592" cy="16459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3373844" name="Text 21"/>
          <p:cNvSpPr/>
          <p:nvPr/>
        </p:nvSpPr>
        <p:spPr bwMode="auto">
          <a:xfrm>
            <a:off x="3630168" y="21396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Отчёт по кампаниям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(стоимость, KPI клиента)</a:t>
            </a:r>
            <a:endParaRPr lang="en-US" sz="1100"/>
          </a:p>
        </p:txBody>
      </p:sp>
      <p:sp>
        <p:nvSpPr>
          <p:cNvPr id="110804568" name="Shape 22"/>
          <p:cNvSpPr/>
          <p:nvPr/>
        </p:nvSpPr>
        <p:spPr bwMode="auto">
          <a:xfrm>
            <a:off x="3383280" y="296265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3258507" name="Shape 23"/>
          <p:cNvSpPr/>
          <p:nvPr/>
        </p:nvSpPr>
        <p:spPr bwMode="auto">
          <a:xfrm>
            <a:off x="3392424" y="2971800"/>
            <a:ext cx="164592" cy="16459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2391143" name="Text 24"/>
          <p:cNvSpPr/>
          <p:nvPr/>
        </p:nvSpPr>
        <p:spPr bwMode="auto">
          <a:xfrm>
            <a:off x="3630168" y="288950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Аналитика по каналам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(просмотры, конверсии)</a:t>
            </a:r>
            <a:endParaRPr lang="en-US" sz="1100"/>
          </a:p>
        </p:txBody>
      </p:sp>
      <p:sp>
        <p:nvSpPr>
          <p:cNvPr id="458491757" name="Shape 25"/>
          <p:cNvSpPr/>
          <p:nvPr/>
        </p:nvSpPr>
        <p:spPr bwMode="auto">
          <a:xfrm>
            <a:off x="6126480" y="91440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47617294" name="Shape 26"/>
          <p:cNvSpPr/>
          <p:nvPr/>
        </p:nvSpPr>
        <p:spPr bwMode="auto">
          <a:xfrm>
            <a:off x="6126480" y="914400"/>
            <a:ext cx="2651760" cy="347472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50858235" name="Text 27"/>
          <p:cNvSpPr/>
          <p:nvPr/>
        </p:nvSpPr>
        <p:spPr bwMode="auto">
          <a:xfrm>
            <a:off x="6217920" y="9509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FFFFFF"/>
                </a:solidFill>
              </a:rPr>
              <a:t>ОГРАНИЧЕНИЯ</a:t>
            </a:r>
            <a:endParaRPr lang="en-US" sz="1100"/>
          </a:p>
        </p:txBody>
      </p:sp>
      <p:sp>
        <p:nvSpPr>
          <p:cNvPr id="699106334" name="Shape 28"/>
          <p:cNvSpPr/>
          <p:nvPr/>
        </p:nvSpPr>
        <p:spPr bwMode="auto">
          <a:xfrm>
            <a:off x="6172200" y="1389888"/>
            <a:ext cx="2542032" cy="56692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774343172" name="Text 29"/>
          <p:cNvSpPr/>
          <p:nvPr/>
        </p:nvSpPr>
        <p:spPr bwMode="auto">
          <a:xfrm>
            <a:off x="6236208" y="140817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1 клиент → N телефонов,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N email, N адресов</a:t>
            </a:r>
            <a:endParaRPr lang="en-US" sz="1000"/>
          </a:p>
        </p:txBody>
      </p:sp>
      <p:sp>
        <p:nvSpPr>
          <p:cNvPr id="1459373495" name="Shape 30"/>
          <p:cNvSpPr/>
          <p:nvPr/>
        </p:nvSpPr>
        <p:spPr bwMode="auto">
          <a:xfrm>
            <a:off x="6172200" y="2048256"/>
            <a:ext cx="2542032" cy="5669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64612810" name="Text 31"/>
          <p:cNvSpPr/>
          <p:nvPr/>
        </p:nvSpPr>
        <p:spPr bwMode="auto">
          <a:xfrm>
            <a:off x="6236208" y="2066544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1 кампания → N каналов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(отд. таблица на канал)</a:t>
            </a:r>
            <a:endParaRPr lang="en-US" sz="1000"/>
          </a:p>
        </p:txBody>
      </p:sp>
      <p:sp>
        <p:nvSpPr>
          <p:cNvPr id="1102102924" name="Shape 32"/>
          <p:cNvSpPr/>
          <p:nvPr/>
        </p:nvSpPr>
        <p:spPr bwMode="auto">
          <a:xfrm>
            <a:off x="6172200" y="2706624"/>
            <a:ext cx="2542032" cy="56692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30193803" name="Text 33"/>
          <p:cNvSpPr/>
          <p:nvPr/>
        </p:nvSpPr>
        <p:spPr bwMode="auto">
          <a:xfrm>
            <a:off x="6236208" y="2724911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open_rate: NUMERIC(5,2)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 диапазон 0–100</a:t>
            </a:r>
            <a:endParaRPr lang="en-US" sz="1000"/>
          </a:p>
        </p:txBody>
      </p:sp>
      <p:sp>
        <p:nvSpPr>
          <p:cNvPr id="269069081" name="Shape 34"/>
          <p:cNvSpPr/>
          <p:nvPr/>
        </p:nvSpPr>
        <p:spPr bwMode="auto">
          <a:xfrm>
            <a:off x="6172200" y="3364992"/>
            <a:ext cx="2542032" cy="5669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70237026" name="Text 35"/>
          <p:cNvSpPr/>
          <p:nvPr/>
        </p:nvSpPr>
        <p:spPr bwMode="auto">
          <a:xfrm>
            <a:off x="6236208" y="338328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tax_id и representative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только для юр. лиц</a:t>
            </a:r>
            <a:endParaRPr lang="en-US" sz="1000"/>
          </a:p>
        </p:txBody>
      </p:sp>
      <p:sp>
        <p:nvSpPr>
          <p:cNvPr id="911428638" name="Shape 36"/>
          <p:cNvSpPr/>
          <p:nvPr/>
        </p:nvSpPr>
        <p:spPr bwMode="auto">
          <a:xfrm>
            <a:off x="6172200" y="4023360"/>
            <a:ext cx="2542032" cy="56692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111650150" name="Text 37"/>
          <p:cNvSpPr/>
          <p:nvPr/>
        </p:nvSpPr>
        <p:spPr bwMode="auto">
          <a:xfrm>
            <a:off x="6236208" y="4041648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promotion_result: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</a:rPr>
              <a:t>N записей на кампанию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434286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82285035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spc="200">
                <a:solidFill>
                  <a:srgbClr val="FFFFFF"/>
                </a:solidFill>
              </a:rPr>
              <a:t>2. ИНФОЛОГИЧЕСКАЯ МОДЕЛЬ — СУЩНОСТИ</a:t>
            </a:r>
            <a:endParaRPr lang="en-US" sz="2000"/>
          </a:p>
        </p:txBody>
      </p:sp>
      <p:sp>
        <p:nvSpPr>
          <p:cNvPr id="853043599" name="Text 2"/>
          <p:cNvSpPr/>
          <p:nvPr/>
        </p:nvSpPr>
        <p:spPr bwMode="auto"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</a:rPr>
              <a:t>База данных содержит 12 таблиц, сгруппированных по трём функциональным блокам:</a:t>
            </a:r>
            <a:endParaRPr lang="en-US" sz="1200"/>
          </a:p>
        </p:txBody>
      </p:sp>
      <p:pic>
        <p:nvPicPr>
          <p:cNvPr id="18487626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457200" y="1188720"/>
            <a:ext cx="6551174" cy="37313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764639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2255187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spc="200">
                <a:solidFill>
                  <a:srgbClr val="FFFFFF"/>
                </a:solidFill>
              </a:rPr>
              <a:t>3. ВЫБОР СУБД — СРАВНИТЕЛЬНЫЙ АНАЛИЗ</a:t>
            </a:r>
            <a:endParaRPr lang="en-US" sz="2000"/>
          </a:p>
        </p:txBody>
      </p:sp>
      <p:sp>
        <p:nvSpPr>
          <p:cNvPr id="168540863" name="Shape 2"/>
          <p:cNvSpPr/>
          <p:nvPr/>
        </p:nvSpPr>
        <p:spPr bwMode="auto">
          <a:xfrm>
            <a:off x="365760" y="868680"/>
            <a:ext cx="182880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41889297" name="Text 3"/>
          <p:cNvSpPr/>
          <p:nvPr/>
        </p:nvSpPr>
        <p:spPr bwMode="auto">
          <a:xfrm>
            <a:off x="411480" y="886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СУБД</a:t>
            </a:r>
            <a:endParaRPr lang="en-US" sz="1100"/>
          </a:p>
        </p:txBody>
      </p:sp>
      <p:sp>
        <p:nvSpPr>
          <p:cNvPr id="276349377" name="Shape 4"/>
          <p:cNvSpPr/>
          <p:nvPr/>
        </p:nvSpPr>
        <p:spPr bwMode="auto">
          <a:xfrm>
            <a:off x="2286000" y="868680"/>
            <a:ext cx="192024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36648921" name="Text 5"/>
          <p:cNvSpPr/>
          <p:nvPr/>
        </p:nvSpPr>
        <p:spPr bwMode="auto">
          <a:xfrm>
            <a:off x="2331720" y="886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Тип / Лицензия</a:t>
            </a:r>
            <a:endParaRPr lang="en-US" sz="1100"/>
          </a:p>
        </p:txBody>
      </p:sp>
      <p:sp>
        <p:nvSpPr>
          <p:cNvPr id="957497415" name="Shape 6"/>
          <p:cNvSpPr/>
          <p:nvPr/>
        </p:nvSpPr>
        <p:spPr bwMode="auto">
          <a:xfrm>
            <a:off x="4297680" y="868680"/>
            <a:ext cx="141732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34599317" name="Text 7"/>
          <p:cNvSpPr/>
          <p:nvPr/>
        </p:nvSpPr>
        <p:spPr bwMode="auto">
          <a:xfrm>
            <a:off x="4343400" y="8869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SQL / ACID</a:t>
            </a:r>
            <a:endParaRPr lang="en-US" sz="1100"/>
          </a:p>
        </p:txBody>
      </p:sp>
      <p:sp>
        <p:nvSpPr>
          <p:cNvPr id="842957495" name="Shape 8"/>
          <p:cNvSpPr/>
          <p:nvPr/>
        </p:nvSpPr>
        <p:spPr bwMode="auto">
          <a:xfrm>
            <a:off x="5806440" y="868680"/>
            <a:ext cx="141732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05923973" name="Text 9"/>
          <p:cNvSpPr/>
          <p:nvPr/>
        </p:nvSpPr>
        <p:spPr bwMode="auto">
          <a:xfrm>
            <a:off x="5852160" y="8869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Масшт.</a:t>
            </a:r>
            <a:endParaRPr lang="en-US" sz="1100"/>
          </a:p>
        </p:txBody>
      </p:sp>
      <p:sp>
        <p:nvSpPr>
          <p:cNvPr id="933939908" name="Shape 10"/>
          <p:cNvSpPr/>
          <p:nvPr/>
        </p:nvSpPr>
        <p:spPr bwMode="auto">
          <a:xfrm>
            <a:off x="7315200" y="868680"/>
            <a:ext cx="173736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4835041" name="Text 11"/>
          <p:cNvSpPr/>
          <p:nvPr/>
        </p:nvSpPr>
        <p:spPr bwMode="auto">
          <a:xfrm>
            <a:off x="7360920" y="8869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Решение</a:t>
            </a:r>
            <a:endParaRPr lang="en-US" sz="1100"/>
          </a:p>
        </p:txBody>
      </p:sp>
      <p:sp>
        <p:nvSpPr>
          <p:cNvPr id="1945855529" name="Shape 12"/>
          <p:cNvSpPr/>
          <p:nvPr/>
        </p:nvSpPr>
        <p:spPr bwMode="auto">
          <a:xfrm>
            <a:off x="365760" y="1261872"/>
            <a:ext cx="1828800" cy="438912"/>
          </a:xfrm>
          <a:prstGeom prst="rect">
            <a:avLst/>
          </a:prstGeom>
          <a:solidFill>
            <a:srgbClr val="DFF5F0"/>
          </a:solidFill>
          <a:ln/>
        </p:spPr>
      </p:sp>
      <p:sp>
        <p:nvSpPr>
          <p:cNvPr id="638493351" name="Text 13"/>
          <p:cNvSpPr/>
          <p:nvPr/>
        </p:nvSpPr>
        <p:spPr bwMode="auto">
          <a:xfrm>
            <a:off x="429768" y="133502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F8080"/>
                </a:solidFill>
              </a:rPr>
              <a:t>PostgreSQL</a:t>
            </a:r>
            <a:endParaRPr lang="en-US" sz="1200"/>
          </a:p>
        </p:txBody>
      </p:sp>
      <p:sp>
        <p:nvSpPr>
          <p:cNvPr id="512363464" name="Shape 14"/>
          <p:cNvSpPr/>
          <p:nvPr/>
        </p:nvSpPr>
        <p:spPr bwMode="auto">
          <a:xfrm>
            <a:off x="2286000" y="1261872"/>
            <a:ext cx="1920240" cy="438912"/>
          </a:xfrm>
          <a:prstGeom prst="rect">
            <a:avLst/>
          </a:prstGeom>
          <a:solidFill>
            <a:srgbClr val="DFF5F0"/>
          </a:solidFill>
          <a:ln/>
        </p:spPr>
      </p:sp>
      <p:sp>
        <p:nvSpPr>
          <p:cNvPr id="1682580090" name="Text 15"/>
          <p:cNvSpPr/>
          <p:nvPr/>
        </p:nvSpPr>
        <p:spPr bwMode="auto">
          <a:xfrm>
            <a:off x="2350008" y="133502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Реляционная / OSS</a:t>
            </a:r>
            <a:endParaRPr lang="en-US" sz="1100"/>
          </a:p>
        </p:txBody>
      </p:sp>
      <p:sp>
        <p:nvSpPr>
          <p:cNvPr id="922650814" name="Shape 16"/>
          <p:cNvSpPr/>
          <p:nvPr/>
        </p:nvSpPr>
        <p:spPr bwMode="auto">
          <a:xfrm>
            <a:off x="4297680" y="1261872"/>
            <a:ext cx="1417320" cy="438912"/>
          </a:xfrm>
          <a:prstGeom prst="rect">
            <a:avLst/>
          </a:prstGeom>
          <a:solidFill>
            <a:srgbClr val="DFF5F0"/>
          </a:solidFill>
          <a:ln/>
        </p:spPr>
      </p:sp>
      <p:sp>
        <p:nvSpPr>
          <p:cNvPr id="1331714171" name="Text 17"/>
          <p:cNvSpPr/>
          <p:nvPr/>
        </p:nvSpPr>
        <p:spPr bwMode="auto">
          <a:xfrm>
            <a:off x="4361688" y="133502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✓ / ✓</a:t>
            </a:r>
            <a:endParaRPr lang="en-US" sz="1100"/>
          </a:p>
        </p:txBody>
      </p:sp>
      <p:sp>
        <p:nvSpPr>
          <p:cNvPr id="1035353538" name="Shape 18"/>
          <p:cNvSpPr/>
          <p:nvPr/>
        </p:nvSpPr>
        <p:spPr bwMode="auto">
          <a:xfrm>
            <a:off x="5806440" y="1261872"/>
            <a:ext cx="1417320" cy="438912"/>
          </a:xfrm>
          <a:prstGeom prst="rect">
            <a:avLst/>
          </a:prstGeom>
          <a:solidFill>
            <a:srgbClr val="DFF5F0"/>
          </a:solidFill>
          <a:ln/>
        </p:spPr>
      </p:sp>
      <p:sp>
        <p:nvSpPr>
          <p:cNvPr id="785847901" name="Text 19"/>
          <p:cNvSpPr/>
          <p:nvPr/>
        </p:nvSpPr>
        <p:spPr bwMode="auto">
          <a:xfrm>
            <a:off x="5870448" y="133502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Средн.</a:t>
            </a:r>
            <a:endParaRPr lang="en-US" sz="1100"/>
          </a:p>
        </p:txBody>
      </p:sp>
      <p:sp>
        <p:nvSpPr>
          <p:cNvPr id="69684699" name="Shape 20"/>
          <p:cNvSpPr/>
          <p:nvPr/>
        </p:nvSpPr>
        <p:spPr bwMode="auto">
          <a:xfrm>
            <a:off x="7315200" y="1261872"/>
            <a:ext cx="1737360" cy="438912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233160482" name="Text 21"/>
          <p:cNvSpPr/>
          <p:nvPr/>
        </p:nvSpPr>
        <p:spPr bwMode="auto">
          <a:xfrm>
            <a:off x="7379208" y="133502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ВЫБРАНА</a:t>
            </a:r>
            <a:endParaRPr lang="en-US" sz="1100"/>
          </a:p>
        </p:txBody>
      </p:sp>
      <p:sp>
        <p:nvSpPr>
          <p:cNvPr id="1291191609" name="Shape 22"/>
          <p:cNvSpPr/>
          <p:nvPr/>
        </p:nvSpPr>
        <p:spPr bwMode="auto">
          <a:xfrm>
            <a:off x="365760" y="1764792"/>
            <a:ext cx="182880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810503879" name="Text 23"/>
          <p:cNvSpPr/>
          <p:nvPr/>
        </p:nvSpPr>
        <p:spPr bwMode="auto">
          <a:xfrm>
            <a:off x="429768" y="183794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</a:rPr>
              <a:t>MySQL</a:t>
            </a:r>
            <a:endParaRPr lang="en-US" sz="1200"/>
          </a:p>
        </p:txBody>
      </p:sp>
      <p:sp>
        <p:nvSpPr>
          <p:cNvPr id="1400568447" name="Shape 24"/>
          <p:cNvSpPr/>
          <p:nvPr/>
        </p:nvSpPr>
        <p:spPr bwMode="auto">
          <a:xfrm>
            <a:off x="2286000" y="1764792"/>
            <a:ext cx="192024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788699888" name="Text 25"/>
          <p:cNvSpPr/>
          <p:nvPr/>
        </p:nvSpPr>
        <p:spPr bwMode="auto">
          <a:xfrm>
            <a:off x="2350008" y="183794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Реляционная / OSS</a:t>
            </a:r>
            <a:endParaRPr lang="en-US" sz="1100"/>
          </a:p>
        </p:txBody>
      </p:sp>
      <p:sp>
        <p:nvSpPr>
          <p:cNvPr id="1616855816" name="Shape 26"/>
          <p:cNvSpPr/>
          <p:nvPr/>
        </p:nvSpPr>
        <p:spPr bwMode="auto">
          <a:xfrm>
            <a:off x="4297680" y="1764792"/>
            <a:ext cx="141732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37375008" name="Text 27"/>
          <p:cNvSpPr/>
          <p:nvPr/>
        </p:nvSpPr>
        <p:spPr bwMode="auto">
          <a:xfrm>
            <a:off x="4361688" y="183794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~ / ✓</a:t>
            </a:r>
            <a:endParaRPr lang="en-US" sz="1100"/>
          </a:p>
        </p:txBody>
      </p:sp>
      <p:sp>
        <p:nvSpPr>
          <p:cNvPr id="96336877" name="Shape 28"/>
          <p:cNvSpPr/>
          <p:nvPr/>
        </p:nvSpPr>
        <p:spPr bwMode="auto">
          <a:xfrm>
            <a:off x="5806440" y="1764792"/>
            <a:ext cx="141732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2463518" name="Text 29"/>
          <p:cNvSpPr/>
          <p:nvPr/>
        </p:nvSpPr>
        <p:spPr bwMode="auto">
          <a:xfrm>
            <a:off x="5870448" y="183794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Средн.</a:t>
            </a:r>
            <a:endParaRPr lang="en-US" sz="1100"/>
          </a:p>
        </p:txBody>
      </p:sp>
      <p:sp>
        <p:nvSpPr>
          <p:cNvPr id="1745034602" name="Shape 30"/>
          <p:cNvSpPr/>
          <p:nvPr/>
        </p:nvSpPr>
        <p:spPr bwMode="auto">
          <a:xfrm>
            <a:off x="7315200" y="1764792"/>
            <a:ext cx="173736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800253381" name="Text 31"/>
          <p:cNvSpPr/>
          <p:nvPr/>
        </p:nvSpPr>
        <p:spPr bwMode="auto">
          <a:xfrm>
            <a:off x="7379208" y="183794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—</a:t>
            </a:r>
            <a:endParaRPr lang="en-US" sz="1100"/>
          </a:p>
        </p:txBody>
      </p:sp>
      <p:sp>
        <p:nvSpPr>
          <p:cNvPr id="515254965" name="Shape 32"/>
          <p:cNvSpPr/>
          <p:nvPr/>
        </p:nvSpPr>
        <p:spPr bwMode="auto">
          <a:xfrm>
            <a:off x="365760" y="2267712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9486761" name="Text 33"/>
          <p:cNvSpPr/>
          <p:nvPr/>
        </p:nvSpPr>
        <p:spPr bwMode="auto">
          <a:xfrm>
            <a:off x="429768" y="234086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</a:rPr>
              <a:t>Oracle DB</a:t>
            </a:r>
            <a:endParaRPr lang="en-US" sz="1200"/>
          </a:p>
        </p:txBody>
      </p:sp>
      <p:sp>
        <p:nvSpPr>
          <p:cNvPr id="274052148" name="Shape 34"/>
          <p:cNvSpPr/>
          <p:nvPr/>
        </p:nvSpPr>
        <p:spPr bwMode="auto">
          <a:xfrm>
            <a:off x="2286000" y="2267712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8533021" name="Text 35"/>
          <p:cNvSpPr/>
          <p:nvPr/>
        </p:nvSpPr>
        <p:spPr bwMode="auto">
          <a:xfrm>
            <a:off x="2350008" y="234086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Реляционная / Коммерч.</a:t>
            </a:r>
            <a:endParaRPr lang="en-US" sz="1100"/>
          </a:p>
        </p:txBody>
      </p:sp>
      <p:sp>
        <p:nvSpPr>
          <p:cNvPr id="745066381" name="Shape 36"/>
          <p:cNvSpPr/>
          <p:nvPr/>
        </p:nvSpPr>
        <p:spPr bwMode="auto">
          <a:xfrm>
            <a:off x="4297680" y="2267712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4392019" name="Text 37"/>
          <p:cNvSpPr/>
          <p:nvPr/>
        </p:nvSpPr>
        <p:spPr bwMode="auto">
          <a:xfrm>
            <a:off x="4361688" y="234086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✓ / ✓</a:t>
            </a:r>
            <a:endParaRPr lang="en-US" sz="1100"/>
          </a:p>
        </p:txBody>
      </p:sp>
      <p:sp>
        <p:nvSpPr>
          <p:cNvPr id="742541052" name="Shape 38"/>
          <p:cNvSpPr/>
          <p:nvPr/>
        </p:nvSpPr>
        <p:spPr bwMode="auto">
          <a:xfrm>
            <a:off x="5806440" y="2267712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0310482" name="Text 39"/>
          <p:cNvSpPr/>
          <p:nvPr/>
        </p:nvSpPr>
        <p:spPr bwMode="auto">
          <a:xfrm>
            <a:off x="5870448" y="234086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Высок.</a:t>
            </a:r>
            <a:endParaRPr lang="en-US" sz="1100"/>
          </a:p>
        </p:txBody>
      </p:sp>
      <p:sp>
        <p:nvSpPr>
          <p:cNvPr id="1182435891" name="Shape 40"/>
          <p:cNvSpPr/>
          <p:nvPr/>
        </p:nvSpPr>
        <p:spPr bwMode="auto">
          <a:xfrm>
            <a:off x="7315200" y="2267712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8107995" name="Text 41"/>
          <p:cNvSpPr/>
          <p:nvPr/>
        </p:nvSpPr>
        <p:spPr bwMode="auto">
          <a:xfrm>
            <a:off x="7379208" y="234086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—</a:t>
            </a:r>
            <a:endParaRPr lang="en-US" sz="1100"/>
          </a:p>
        </p:txBody>
      </p:sp>
      <p:sp>
        <p:nvSpPr>
          <p:cNvPr id="1051162961" name="Shape 42"/>
          <p:cNvSpPr/>
          <p:nvPr/>
        </p:nvSpPr>
        <p:spPr bwMode="auto">
          <a:xfrm>
            <a:off x="365760" y="2770632"/>
            <a:ext cx="182880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324932464" name="Text 43"/>
          <p:cNvSpPr/>
          <p:nvPr/>
        </p:nvSpPr>
        <p:spPr bwMode="auto">
          <a:xfrm>
            <a:off x="429768" y="284378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</a:rPr>
              <a:t>SQLite</a:t>
            </a:r>
            <a:endParaRPr lang="en-US" sz="1200"/>
          </a:p>
        </p:txBody>
      </p:sp>
      <p:sp>
        <p:nvSpPr>
          <p:cNvPr id="1365448621" name="Shape 44"/>
          <p:cNvSpPr/>
          <p:nvPr/>
        </p:nvSpPr>
        <p:spPr bwMode="auto">
          <a:xfrm>
            <a:off x="2286000" y="2770632"/>
            <a:ext cx="192024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651826439" name="Text 45"/>
          <p:cNvSpPr/>
          <p:nvPr/>
        </p:nvSpPr>
        <p:spPr bwMode="auto">
          <a:xfrm>
            <a:off x="2350008" y="284378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Реляционная / OSS</a:t>
            </a:r>
            <a:endParaRPr lang="en-US" sz="1100"/>
          </a:p>
        </p:txBody>
      </p:sp>
      <p:sp>
        <p:nvSpPr>
          <p:cNvPr id="1498594063" name="Shape 46"/>
          <p:cNvSpPr/>
          <p:nvPr/>
        </p:nvSpPr>
        <p:spPr bwMode="auto">
          <a:xfrm>
            <a:off x="4297680" y="2770632"/>
            <a:ext cx="141732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794644484" name="Text 47"/>
          <p:cNvSpPr/>
          <p:nvPr/>
        </p:nvSpPr>
        <p:spPr bwMode="auto">
          <a:xfrm>
            <a:off x="4361688" y="284378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✓ / ✓</a:t>
            </a:r>
            <a:endParaRPr lang="en-US" sz="1100"/>
          </a:p>
        </p:txBody>
      </p:sp>
      <p:sp>
        <p:nvSpPr>
          <p:cNvPr id="249941640" name="Shape 48"/>
          <p:cNvSpPr/>
          <p:nvPr/>
        </p:nvSpPr>
        <p:spPr bwMode="auto">
          <a:xfrm>
            <a:off x="5806440" y="2770632"/>
            <a:ext cx="141732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54711805" name="Text 49"/>
          <p:cNvSpPr/>
          <p:nvPr/>
        </p:nvSpPr>
        <p:spPr bwMode="auto">
          <a:xfrm>
            <a:off x="5870448" y="284378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Нет</a:t>
            </a:r>
            <a:endParaRPr lang="en-US" sz="1100"/>
          </a:p>
        </p:txBody>
      </p:sp>
      <p:sp>
        <p:nvSpPr>
          <p:cNvPr id="1471567504" name="Shape 50"/>
          <p:cNvSpPr/>
          <p:nvPr/>
        </p:nvSpPr>
        <p:spPr bwMode="auto">
          <a:xfrm>
            <a:off x="7315200" y="2770632"/>
            <a:ext cx="1737360" cy="43891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394532538" name="Text 51"/>
          <p:cNvSpPr/>
          <p:nvPr/>
        </p:nvSpPr>
        <p:spPr bwMode="auto">
          <a:xfrm>
            <a:off x="7379208" y="284378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—</a:t>
            </a:r>
            <a:endParaRPr lang="en-US" sz="1100"/>
          </a:p>
        </p:txBody>
      </p:sp>
      <p:sp>
        <p:nvSpPr>
          <p:cNvPr id="867053722" name="Shape 52"/>
          <p:cNvSpPr/>
          <p:nvPr/>
        </p:nvSpPr>
        <p:spPr bwMode="auto">
          <a:xfrm>
            <a:off x="365760" y="3273552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6342605" name="Text 53"/>
          <p:cNvSpPr/>
          <p:nvPr/>
        </p:nvSpPr>
        <p:spPr bwMode="auto">
          <a:xfrm>
            <a:off x="429768" y="334670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</a:rPr>
              <a:t>MongoDB</a:t>
            </a:r>
            <a:endParaRPr lang="en-US" sz="1200"/>
          </a:p>
        </p:txBody>
      </p:sp>
      <p:sp>
        <p:nvSpPr>
          <p:cNvPr id="689351976" name="Shape 54"/>
          <p:cNvSpPr/>
          <p:nvPr/>
        </p:nvSpPr>
        <p:spPr bwMode="auto">
          <a:xfrm>
            <a:off x="2286000" y="3273552"/>
            <a:ext cx="19202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1268133" name="Text 55"/>
          <p:cNvSpPr/>
          <p:nvPr/>
        </p:nvSpPr>
        <p:spPr bwMode="auto">
          <a:xfrm>
            <a:off x="2350008" y="3346704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NoSQL / OSS</a:t>
            </a:r>
            <a:endParaRPr lang="en-US" sz="1100"/>
          </a:p>
        </p:txBody>
      </p:sp>
      <p:sp>
        <p:nvSpPr>
          <p:cNvPr id="831596699" name="Shape 56"/>
          <p:cNvSpPr/>
          <p:nvPr/>
        </p:nvSpPr>
        <p:spPr bwMode="auto">
          <a:xfrm>
            <a:off x="4297680" y="3273552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1269282" name="Text 57"/>
          <p:cNvSpPr/>
          <p:nvPr/>
        </p:nvSpPr>
        <p:spPr bwMode="auto">
          <a:xfrm>
            <a:off x="4361688" y="334670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✗ / ~</a:t>
            </a:r>
            <a:endParaRPr lang="en-US" sz="1100"/>
          </a:p>
        </p:txBody>
      </p:sp>
      <p:sp>
        <p:nvSpPr>
          <p:cNvPr id="1467509901" name="Shape 58"/>
          <p:cNvSpPr/>
          <p:nvPr/>
        </p:nvSpPr>
        <p:spPr bwMode="auto">
          <a:xfrm>
            <a:off x="5806440" y="3273552"/>
            <a:ext cx="1417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85804275" name="Text 59"/>
          <p:cNvSpPr/>
          <p:nvPr/>
        </p:nvSpPr>
        <p:spPr bwMode="auto">
          <a:xfrm>
            <a:off x="5870448" y="3346704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Высок.</a:t>
            </a:r>
            <a:endParaRPr lang="en-US" sz="1100"/>
          </a:p>
        </p:txBody>
      </p:sp>
      <p:sp>
        <p:nvSpPr>
          <p:cNvPr id="980817270" name="Shape 60"/>
          <p:cNvSpPr/>
          <p:nvPr/>
        </p:nvSpPr>
        <p:spPr bwMode="auto">
          <a:xfrm>
            <a:off x="7315200" y="3273552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9175874" name="Text 61"/>
          <p:cNvSpPr/>
          <p:nvPr/>
        </p:nvSpPr>
        <p:spPr bwMode="auto">
          <a:xfrm>
            <a:off x="7379208" y="3346704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—</a:t>
            </a:r>
            <a:endParaRPr lang="en-US" sz="1100"/>
          </a:p>
        </p:txBody>
      </p:sp>
      <p:sp>
        <p:nvSpPr>
          <p:cNvPr id="1252414279" name="Shape 62"/>
          <p:cNvSpPr/>
          <p:nvPr/>
        </p:nvSpPr>
        <p:spPr bwMode="auto">
          <a:xfrm>
            <a:off x="365760" y="3840480"/>
            <a:ext cx="841248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51673590" name="Shape 63"/>
          <p:cNvSpPr/>
          <p:nvPr/>
        </p:nvSpPr>
        <p:spPr bwMode="auto">
          <a:xfrm>
            <a:off x="365760" y="3840480"/>
            <a:ext cx="64008" cy="100584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931281303" name="Text 64"/>
          <p:cNvSpPr/>
          <p:nvPr/>
        </p:nvSpPr>
        <p:spPr bwMode="auto">
          <a:xfrm>
            <a:off x="502920" y="38770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4A8A8"/>
                </a:solidFill>
              </a:rPr>
              <a:t>Обоснование выбора PostgreSQL:</a:t>
            </a:r>
            <a:endParaRPr lang="en-US" sz="1100"/>
          </a:p>
        </p:txBody>
      </p:sp>
      <p:sp>
        <p:nvSpPr>
          <p:cNvPr id="1512500324" name="Text 65"/>
          <p:cNvSpPr/>
          <p:nvPr/>
        </p:nvSpPr>
        <p:spPr bwMode="auto">
          <a:xfrm>
            <a:off x="502920" y="416966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Строгий SQL · ACID-транзакции · Типы BOOLEAN, NUMERIC(5,2), TIMESTAMP · 12 внешних ключей · Бесплатная лицензия · PHP PDO (pgsql)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320989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5259840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spc="200">
                <a:solidFill>
                  <a:srgbClr val="FFFFFF"/>
                </a:solidFill>
              </a:rPr>
              <a:t>4. ДАТАЛОГИЧЕСКАЯ МОДЕЛЬ</a:t>
            </a:r>
            <a:endParaRPr lang="en-US" sz="2000"/>
          </a:p>
        </p:txBody>
      </p:sp>
      <p:pic>
        <p:nvPicPr>
          <p:cNvPr id="8059969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041071" y="777240"/>
            <a:ext cx="4625069" cy="4366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876099" name="Shape 0"/>
          <p:cNvSpPr/>
          <p:nvPr/>
        </p:nvSpPr>
        <p:spPr bwMode="auto"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29736387" name="Text 1"/>
          <p:cNvSpPr/>
          <p:nvPr/>
        </p:nvSpPr>
        <p:spPr bwMode="auto"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spc="200">
                <a:solidFill>
                  <a:srgbClr val="FFFFFF"/>
                </a:solidFill>
              </a:rPr>
              <a:t>4. ОБОСНОВАНИЕ ПРОЕКТНЫХ РЕШЕНИЙ</a:t>
            </a:r>
            <a:endParaRPr lang="en-US" sz="2000"/>
          </a:p>
        </p:txBody>
      </p:sp>
      <p:sp>
        <p:nvSpPr>
          <p:cNvPr id="1056727107" name="Shape 2"/>
          <p:cNvSpPr/>
          <p:nvPr/>
        </p:nvSpPr>
        <p:spPr bwMode="auto">
          <a:xfrm>
            <a:off x="365760" y="9144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552937156" name="Shape 3"/>
          <p:cNvSpPr/>
          <p:nvPr/>
        </p:nvSpPr>
        <p:spPr bwMode="auto">
          <a:xfrm>
            <a:off x="365760" y="914400"/>
            <a:ext cx="64008" cy="9144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667676076" name="Shape 4"/>
          <p:cNvSpPr/>
          <p:nvPr/>
        </p:nvSpPr>
        <p:spPr bwMode="auto">
          <a:xfrm>
            <a:off x="502920" y="987552"/>
            <a:ext cx="475488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14A8A8"/>
            </a:solidFill>
            <a:prstDash val="solid"/>
          </a:ln>
        </p:spPr>
      </p:sp>
      <p:sp>
        <p:nvSpPr>
          <p:cNvPr id="1364883038" name="Text 5"/>
          <p:cNvSpPr/>
          <p:nvPr/>
        </p:nvSpPr>
        <p:spPr bwMode="auto">
          <a:xfrm>
            <a:off x="502920" y="100584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8080"/>
                </a:solidFill>
              </a:rPr>
              <a:t>01</a:t>
            </a:r>
            <a:endParaRPr lang="en-US" sz="1600"/>
          </a:p>
        </p:txBody>
      </p:sp>
      <p:sp>
        <p:nvSpPr>
          <p:cNvPr id="1467699127" name="Text 6"/>
          <p:cNvSpPr/>
          <p:nvPr/>
        </p:nvSpPr>
        <p:spPr bwMode="auto">
          <a:xfrm>
            <a:off x="1078992" y="9784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744"/>
                </a:solidFill>
              </a:rPr>
              <a:t>Нормализация контактных данных</a:t>
            </a:r>
            <a:endParaRPr lang="en-US" sz="1300"/>
          </a:p>
        </p:txBody>
      </p:sp>
      <p:sp>
        <p:nvSpPr>
          <p:cNvPr id="1375203935" name="Text 7"/>
          <p:cNvSpPr/>
          <p:nvPr/>
        </p:nvSpPr>
        <p:spPr bwMode="auto">
          <a:xfrm>
            <a:off x="1078992" y="126187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Телефоны, email и адреса вынесены в отдельные таблицы (phone, email, address) — связь «один ко многим» с client. Устраняет дублирование и позволяет хранить произвольное количество контактов.</a:t>
            </a:r>
            <a:endParaRPr lang="en-US" sz="1100"/>
          </a:p>
        </p:txBody>
      </p:sp>
      <p:sp>
        <p:nvSpPr>
          <p:cNvPr id="2079089517" name="Shape 8"/>
          <p:cNvSpPr/>
          <p:nvPr/>
        </p:nvSpPr>
        <p:spPr bwMode="auto">
          <a:xfrm>
            <a:off x="365760" y="1938528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670851135" name="Shape 9"/>
          <p:cNvSpPr/>
          <p:nvPr/>
        </p:nvSpPr>
        <p:spPr bwMode="auto">
          <a:xfrm>
            <a:off x="365760" y="1938528"/>
            <a:ext cx="64008" cy="9144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585041467" name="Shape 10"/>
          <p:cNvSpPr/>
          <p:nvPr/>
        </p:nvSpPr>
        <p:spPr bwMode="auto">
          <a:xfrm>
            <a:off x="502920" y="2011680"/>
            <a:ext cx="475488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14A8A8"/>
            </a:solidFill>
            <a:prstDash val="solid"/>
          </a:ln>
        </p:spPr>
      </p:sp>
      <p:sp>
        <p:nvSpPr>
          <p:cNvPr id="727485414" name="Text 11"/>
          <p:cNvSpPr/>
          <p:nvPr/>
        </p:nvSpPr>
        <p:spPr bwMode="auto">
          <a:xfrm>
            <a:off x="502920" y="202996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8080"/>
                </a:solidFill>
              </a:rPr>
              <a:t>02</a:t>
            </a:r>
            <a:endParaRPr lang="en-US" sz="1600"/>
          </a:p>
        </p:txBody>
      </p:sp>
      <p:sp>
        <p:nvSpPr>
          <p:cNvPr id="500235164" name="Text 12"/>
          <p:cNvSpPr/>
          <p:nvPr/>
        </p:nvSpPr>
        <p:spPr bwMode="auto">
          <a:xfrm>
            <a:off x="1078992" y="20025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744"/>
                </a:solidFill>
              </a:rPr>
              <a:t>Специализированные таблицы каналов</a:t>
            </a:r>
            <a:endParaRPr lang="en-US" sz="1300"/>
          </a:p>
        </p:txBody>
      </p:sp>
      <p:sp>
        <p:nvSpPr>
          <p:cNvPr id="197068204" name="Text 13"/>
          <p:cNvSpPr/>
          <p:nvPr/>
        </p:nvSpPr>
        <p:spPr bwMode="auto">
          <a:xfrm>
            <a:off x="1078992" y="228600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Каждый из 6 рекламных каналов (YouTube, пресса, билборд, радио, соцсети, email-рассылка) получил отдельную таблицу. Это соответствует принципу 3НФ и позволяет хранить уникальные атрибуты без NULL-полей.</a:t>
            </a:r>
            <a:endParaRPr lang="en-US" sz="1100"/>
          </a:p>
        </p:txBody>
      </p:sp>
      <p:sp>
        <p:nvSpPr>
          <p:cNvPr id="466129543" name="Shape 14"/>
          <p:cNvSpPr/>
          <p:nvPr/>
        </p:nvSpPr>
        <p:spPr bwMode="auto">
          <a:xfrm>
            <a:off x="365760" y="2962656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410183854" name="Shape 15"/>
          <p:cNvSpPr/>
          <p:nvPr/>
        </p:nvSpPr>
        <p:spPr bwMode="auto">
          <a:xfrm>
            <a:off x="365760" y="2962656"/>
            <a:ext cx="64008" cy="9144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769473008" name="Shape 16"/>
          <p:cNvSpPr/>
          <p:nvPr/>
        </p:nvSpPr>
        <p:spPr bwMode="auto">
          <a:xfrm>
            <a:off x="502920" y="3035808"/>
            <a:ext cx="475488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14A8A8"/>
            </a:solidFill>
            <a:prstDash val="solid"/>
          </a:ln>
        </p:spPr>
      </p:sp>
      <p:sp>
        <p:nvSpPr>
          <p:cNvPr id="2050664559" name="Text 17"/>
          <p:cNvSpPr/>
          <p:nvPr/>
        </p:nvSpPr>
        <p:spPr bwMode="auto">
          <a:xfrm>
            <a:off x="502920" y="3054096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8080"/>
                </a:solidFill>
              </a:rPr>
              <a:t>03</a:t>
            </a:r>
            <a:endParaRPr lang="en-US" sz="1600"/>
          </a:p>
        </p:txBody>
      </p:sp>
      <p:sp>
        <p:nvSpPr>
          <p:cNvPr id="668261155" name="Text 18"/>
          <p:cNvSpPr/>
          <p:nvPr/>
        </p:nvSpPr>
        <p:spPr bwMode="auto">
          <a:xfrm>
            <a:off x="1078992" y="30266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744"/>
                </a:solidFill>
              </a:rPr>
              <a:t>Временная динамика результатов</a:t>
            </a:r>
            <a:endParaRPr lang="en-US" sz="1300"/>
          </a:p>
        </p:txBody>
      </p:sp>
      <p:sp>
        <p:nvSpPr>
          <p:cNvPr id="77863028" name="Text 19"/>
          <p:cNvSpPr/>
          <p:nvPr/>
        </p:nvSpPr>
        <p:spPr bwMode="auto">
          <a:xfrm>
            <a:off x="1078992" y="3310127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promotion_result допускает N записей на кампанию с полем recorded_at (TIMESTAMP). Это обеспечивает отслеживание динамики просмотров, кликов и конверсий в разрезе времени.</a:t>
            </a:r>
            <a:endParaRPr lang="en-US" sz="1100"/>
          </a:p>
        </p:txBody>
      </p:sp>
      <p:sp>
        <p:nvSpPr>
          <p:cNvPr id="1831233068" name="Shape 20"/>
          <p:cNvSpPr/>
          <p:nvPr/>
        </p:nvSpPr>
        <p:spPr bwMode="auto">
          <a:xfrm>
            <a:off x="365760" y="3986784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02973126" name="Shape 21"/>
          <p:cNvSpPr/>
          <p:nvPr/>
        </p:nvSpPr>
        <p:spPr bwMode="auto">
          <a:xfrm>
            <a:off x="365760" y="3986784"/>
            <a:ext cx="64008" cy="9144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389564239" name="Shape 22"/>
          <p:cNvSpPr/>
          <p:nvPr/>
        </p:nvSpPr>
        <p:spPr bwMode="auto">
          <a:xfrm>
            <a:off x="502920" y="4059936"/>
            <a:ext cx="475488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14A8A8"/>
            </a:solidFill>
            <a:prstDash val="solid"/>
          </a:ln>
        </p:spPr>
      </p:sp>
      <p:sp>
        <p:nvSpPr>
          <p:cNvPr id="567632475" name="Text 23"/>
          <p:cNvSpPr/>
          <p:nvPr/>
        </p:nvSpPr>
        <p:spPr bwMode="auto">
          <a:xfrm>
            <a:off x="502920" y="4078224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F8080"/>
                </a:solidFill>
              </a:rPr>
              <a:t>04</a:t>
            </a:r>
            <a:endParaRPr lang="en-US" sz="1600"/>
          </a:p>
        </p:txBody>
      </p:sp>
      <p:sp>
        <p:nvSpPr>
          <p:cNvPr id="40363096" name="Text 24"/>
          <p:cNvSpPr/>
          <p:nvPr/>
        </p:nvSpPr>
        <p:spPr bwMode="auto">
          <a:xfrm>
            <a:off x="1078992" y="40507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744"/>
                </a:solidFill>
              </a:rPr>
              <a:t>Типы данных PostgreSQL</a:t>
            </a:r>
            <a:endParaRPr lang="en-US" sz="1300"/>
          </a:p>
        </p:txBody>
      </p:sp>
      <p:sp>
        <p:nvSpPr>
          <p:cNvPr id="1018114744" name="Text 25"/>
          <p:cNvSpPr/>
          <p:nvPr/>
        </p:nvSpPr>
        <p:spPr bwMode="auto">
          <a:xfrm>
            <a:off x="1078992" y="433425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</a:rPr>
              <a:t>SERIAL для автоинкрементных PK · BOOLEAN для is_legal_entity / illuminated · NUMERIC(5,2) для open_rate · TIMESTAMP для дат · VARCHAR с ограничением длины для строк.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A274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598454" name="Shape 0"/>
          <p:cNvSpPr/>
          <p:nvPr/>
        </p:nvSpPr>
        <p:spPr bwMode="auto">
          <a:xfrm>
            <a:off x="0" y="0"/>
            <a:ext cx="320040" cy="514350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435920059" name="Text 1"/>
          <p:cNvSpPr/>
          <p:nvPr/>
        </p:nvSpPr>
        <p:spPr bwMode="auto">
          <a:xfrm>
            <a:off x="640080" y="274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500">
                <a:solidFill>
                  <a:srgbClr val="14A8A8"/>
                </a:solidFill>
              </a:rPr>
              <a:t>ИТОГИ РАБОТЫ</a:t>
            </a:r>
            <a:endParaRPr lang="en-US" sz="1300"/>
          </a:p>
        </p:txBody>
      </p:sp>
      <p:sp>
        <p:nvSpPr>
          <p:cNvPr id="2005091387" name="Text 2"/>
          <p:cNvSpPr/>
          <p:nvPr/>
        </p:nvSpPr>
        <p:spPr bwMode="auto">
          <a:xfrm>
            <a:off x="64008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</a:rPr>
              <a:t>Что было спроектировано и реализовано:</a:t>
            </a:r>
            <a:endParaRPr lang="en-US" sz="1600"/>
          </a:p>
        </p:txBody>
      </p:sp>
      <p:sp>
        <p:nvSpPr>
          <p:cNvPr id="955105089" name="Shape 3"/>
          <p:cNvSpPr/>
          <p:nvPr/>
        </p:nvSpPr>
        <p:spPr bwMode="auto">
          <a:xfrm>
            <a:off x="640080" y="1170432"/>
            <a:ext cx="7863840" cy="64008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1046836547" name="Shape 4"/>
          <p:cNvSpPr/>
          <p:nvPr/>
        </p:nvSpPr>
        <p:spPr bwMode="auto">
          <a:xfrm>
            <a:off x="640080" y="1170432"/>
            <a:ext cx="1645920" cy="64008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725148959" name="Text 5"/>
          <p:cNvSpPr/>
          <p:nvPr/>
        </p:nvSpPr>
        <p:spPr bwMode="auto">
          <a:xfrm>
            <a:off x="685800" y="12984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12 таблиц</a:t>
            </a:r>
            <a:endParaRPr lang="en-US" sz="1600"/>
          </a:p>
        </p:txBody>
      </p:sp>
      <p:sp>
        <p:nvSpPr>
          <p:cNvPr id="734456924" name="Text 6"/>
          <p:cNvSpPr/>
          <p:nvPr/>
        </p:nvSpPr>
        <p:spPr bwMode="auto">
          <a:xfrm>
            <a:off x="2377440" y="1298448"/>
            <a:ext cx="60350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нормализованная реляционная БД для рекламного агентства</a:t>
            </a:r>
            <a:endParaRPr lang="en-US" sz="1200"/>
          </a:p>
        </p:txBody>
      </p:sp>
      <p:sp>
        <p:nvSpPr>
          <p:cNvPr id="1454172927" name="Shape 7"/>
          <p:cNvSpPr/>
          <p:nvPr/>
        </p:nvSpPr>
        <p:spPr bwMode="auto">
          <a:xfrm>
            <a:off x="640080" y="1920240"/>
            <a:ext cx="7863840" cy="64008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535251899" name="Shape 8"/>
          <p:cNvSpPr/>
          <p:nvPr/>
        </p:nvSpPr>
        <p:spPr bwMode="auto">
          <a:xfrm>
            <a:off x="640080" y="1920240"/>
            <a:ext cx="1645920" cy="64008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482086042" name="Text 9"/>
          <p:cNvSpPr/>
          <p:nvPr/>
        </p:nvSpPr>
        <p:spPr bwMode="auto">
          <a:xfrm>
            <a:off x="685800" y="20482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6 каналов</a:t>
            </a:r>
            <a:endParaRPr lang="en-US" sz="1600"/>
          </a:p>
        </p:txBody>
      </p:sp>
      <p:sp>
        <p:nvSpPr>
          <p:cNvPr id="1469864048" name="Text 10"/>
          <p:cNvSpPr/>
          <p:nvPr/>
        </p:nvSpPr>
        <p:spPr bwMode="auto">
          <a:xfrm>
            <a:off x="2377440" y="2048256"/>
            <a:ext cx="60350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уникальные атрибуты каждого рекламного канала без NULL-полей</a:t>
            </a:r>
            <a:endParaRPr lang="en-US" sz="1200"/>
          </a:p>
        </p:txBody>
      </p:sp>
      <p:sp>
        <p:nvSpPr>
          <p:cNvPr id="1354799169" name="Shape 11"/>
          <p:cNvSpPr/>
          <p:nvPr/>
        </p:nvSpPr>
        <p:spPr bwMode="auto">
          <a:xfrm>
            <a:off x="640080" y="2670048"/>
            <a:ext cx="7863840" cy="64008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352270883" name="Shape 12"/>
          <p:cNvSpPr/>
          <p:nvPr/>
        </p:nvSpPr>
        <p:spPr bwMode="auto">
          <a:xfrm>
            <a:off x="640080" y="2670048"/>
            <a:ext cx="1645920" cy="64008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125986135" name="Text 13"/>
          <p:cNvSpPr/>
          <p:nvPr/>
        </p:nvSpPr>
        <p:spPr bwMode="auto">
          <a:xfrm>
            <a:off x="685800" y="279806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5 запросов</a:t>
            </a:r>
            <a:endParaRPr lang="en-US" sz="1600"/>
          </a:p>
        </p:txBody>
      </p:sp>
      <p:sp>
        <p:nvSpPr>
          <p:cNvPr id="2100980342" name="Text 14"/>
          <p:cNvSpPr/>
          <p:nvPr/>
        </p:nvSpPr>
        <p:spPr bwMode="auto">
          <a:xfrm>
            <a:off x="2377440" y="2798064"/>
            <a:ext cx="60350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JOIN, INSERT, DELETE, LIKE-поиск, GROUP BY + UNION ALL</a:t>
            </a:r>
            <a:endParaRPr lang="en-US" sz="1200"/>
          </a:p>
        </p:txBody>
      </p:sp>
      <p:sp>
        <p:nvSpPr>
          <p:cNvPr id="664629283" name="Shape 15"/>
          <p:cNvSpPr/>
          <p:nvPr/>
        </p:nvSpPr>
        <p:spPr bwMode="auto">
          <a:xfrm>
            <a:off x="640080" y="3419856"/>
            <a:ext cx="7863840" cy="64008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937661575" name="Shape 16"/>
          <p:cNvSpPr/>
          <p:nvPr/>
        </p:nvSpPr>
        <p:spPr bwMode="auto">
          <a:xfrm>
            <a:off x="640080" y="3419856"/>
            <a:ext cx="1645920" cy="64008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225846501" name="Text 17"/>
          <p:cNvSpPr/>
          <p:nvPr/>
        </p:nvSpPr>
        <p:spPr bwMode="auto">
          <a:xfrm>
            <a:off x="685800" y="35478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PostgreSQL</a:t>
            </a:r>
            <a:endParaRPr lang="en-US" sz="1600"/>
          </a:p>
        </p:txBody>
      </p:sp>
      <p:sp>
        <p:nvSpPr>
          <p:cNvPr id="1010070753" name="Text 18"/>
          <p:cNvSpPr/>
          <p:nvPr/>
        </p:nvSpPr>
        <p:spPr bwMode="auto">
          <a:xfrm>
            <a:off x="2377440" y="3547872"/>
            <a:ext cx="60350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выбрана по результатам сравнения 5 СУБД</a:t>
            </a:r>
            <a:endParaRPr lang="en-US" sz="1200"/>
          </a:p>
        </p:txBody>
      </p:sp>
      <p:sp>
        <p:nvSpPr>
          <p:cNvPr id="1056614650" name="Shape 19"/>
          <p:cNvSpPr/>
          <p:nvPr/>
        </p:nvSpPr>
        <p:spPr bwMode="auto">
          <a:xfrm>
            <a:off x="640080" y="4169664"/>
            <a:ext cx="7863840" cy="640080"/>
          </a:xfrm>
          <a:prstGeom prst="rect">
            <a:avLst/>
          </a:prstGeom>
          <a:solidFill>
            <a:srgbClr val="243460"/>
          </a:solidFill>
          <a:ln/>
        </p:spPr>
      </p:sp>
      <p:sp>
        <p:nvSpPr>
          <p:cNvPr id="254807378" name="Shape 20"/>
          <p:cNvSpPr/>
          <p:nvPr/>
        </p:nvSpPr>
        <p:spPr bwMode="auto">
          <a:xfrm>
            <a:off x="640080" y="4169664"/>
            <a:ext cx="1645920" cy="640080"/>
          </a:xfrm>
          <a:prstGeom prst="rect">
            <a:avLst/>
          </a:prstGeom>
          <a:solidFill>
            <a:srgbClr val="0F8080"/>
          </a:solidFill>
          <a:ln/>
        </p:spPr>
      </p:sp>
      <p:sp>
        <p:nvSpPr>
          <p:cNvPr id="1180399784" name="Text 21"/>
          <p:cNvSpPr/>
          <p:nvPr/>
        </p:nvSpPr>
        <p:spPr bwMode="auto">
          <a:xfrm>
            <a:off x="685800" y="42976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PHP 8 + PDO</a:t>
            </a:r>
            <a:endParaRPr lang="en-US" sz="1600"/>
          </a:p>
        </p:txBody>
      </p:sp>
      <p:sp>
        <p:nvSpPr>
          <p:cNvPr id="134997397" name="Text 22"/>
          <p:cNvSpPr/>
          <p:nvPr/>
        </p:nvSpPr>
        <p:spPr bwMode="auto">
          <a:xfrm>
            <a:off x="2377440" y="4297680"/>
            <a:ext cx="60350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параметризованные запросы, защита от SQL-инъекций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рекламного агентства</dc:title>
  <dc:subject>PptxGenJS Presentation</dc:subject>
  <dc:creator>PptxGenJS</dc:creator>
  <cp:lastModifiedBy/>
  <cp:revision>2</cp:revision>
  <dcterms:created xsi:type="dcterms:W3CDTF">2026-06-04T03:06:20Z</dcterms:created>
  <dcterms:modified xsi:type="dcterms:W3CDTF">2026-06-04T04:09:38Z</dcterms:modified>
</cp:coreProperties>
</file>